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image" Target="../media/image-3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754880" cy="5143500"/>
          </a:xfrm>
          <a:prstGeom prst="rect">
            <a:avLst/>
          </a:prstGeom>
          <a:solidFill>
            <a:srgbClr val="11182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754880" y="0"/>
            <a:ext cx="54864" cy="5143500"/>
          </a:xfrm>
          <a:prstGeom prst="rect">
            <a:avLst/>
          </a:prstGeom>
          <a:solidFill>
            <a:srgbClr val="00C85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1005840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00C85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Prise</a:t>
            </a:r>
            <a:endParaRPr lang="en-US" sz="5600" dirty="0"/>
          </a:p>
        </p:txBody>
      </p:sp>
      <p:sp>
        <p:nvSpPr>
          <p:cNvPr id="5" name="Text 3"/>
          <p:cNvSpPr/>
          <p:nvPr/>
        </p:nvSpPr>
        <p:spPr>
          <a:xfrm>
            <a:off x="2103120" y="100584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Pulse</a:t>
            </a:r>
            <a:endParaRPr lang="en-US" sz="5600" dirty="0"/>
          </a:p>
        </p:txBody>
      </p:sp>
      <p:sp>
        <p:nvSpPr>
          <p:cNvPr id="6" name="Shape 4"/>
          <p:cNvSpPr/>
          <p:nvPr/>
        </p:nvSpPr>
        <p:spPr>
          <a:xfrm>
            <a:off x="502920" y="1143000"/>
            <a:ext cx="201168" cy="201168"/>
          </a:xfrm>
          <a:prstGeom prst="ellipse">
            <a:avLst/>
          </a:prstGeom>
          <a:solidFill>
            <a:srgbClr val="00C85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187452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Financial Intelligence Platform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548640" y="2377440"/>
            <a:ext cx="4023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full-stack web app inspired by MoneyControl — built with React, Node.js, MongoDB and WebSocket for live Indian market data.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48640" y="3291840"/>
            <a:ext cx="1188720" cy="1188720"/>
          </a:xfrm>
          <a:prstGeom prst="rect">
            <a:avLst/>
          </a:prstGeom>
          <a:solidFill>
            <a:srgbClr val="131C2E"/>
          </a:solidFill>
          <a:ln w="12700">
            <a:solidFill>
              <a:srgbClr val="1F293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85800" y="3401568"/>
            <a:ext cx="914400" cy="6537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0C85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7</a:t>
            </a:r>
            <a:endParaRPr lang="en-US" sz="3600" dirty="0"/>
          </a:p>
        </p:txBody>
      </p:sp>
      <p:sp>
        <p:nvSpPr>
          <p:cNvPr id="11" name="Text 9"/>
          <p:cNvSpPr/>
          <p:nvPr/>
        </p:nvSpPr>
        <p:spPr>
          <a:xfrm>
            <a:off x="640080" y="4005072"/>
            <a:ext cx="1005840" cy="4160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Pages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1828800" y="3291840"/>
            <a:ext cx="1188720" cy="1188720"/>
          </a:xfrm>
          <a:prstGeom prst="rect">
            <a:avLst/>
          </a:prstGeom>
          <a:solidFill>
            <a:srgbClr val="131C2E"/>
          </a:solidFill>
          <a:ln w="12700">
            <a:solidFill>
              <a:srgbClr val="1F293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1965960" y="3401568"/>
            <a:ext cx="914400" cy="6537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0BCD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7</a:t>
            </a:r>
            <a:endParaRPr lang="en-US" sz="3600" dirty="0"/>
          </a:p>
        </p:txBody>
      </p:sp>
      <p:sp>
        <p:nvSpPr>
          <p:cNvPr id="14" name="Text 12"/>
          <p:cNvSpPr/>
          <p:nvPr/>
        </p:nvSpPr>
        <p:spPr>
          <a:xfrm>
            <a:off x="1920240" y="4005072"/>
            <a:ext cx="1005840" cy="4160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Calculators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108960" y="3291840"/>
            <a:ext cx="1188720" cy="1188720"/>
          </a:xfrm>
          <a:prstGeom prst="rect">
            <a:avLst/>
          </a:prstGeom>
          <a:solidFill>
            <a:srgbClr val="131C2E"/>
          </a:solidFill>
          <a:ln w="12700">
            <a:solidFill>
              <a:srgbClr val="1F293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246120" y="3401568"/>
            <a:ext cx="914400" cy="6537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0E67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</a:t>
            </a:r>
            <a:endParaRPr lang="en-US" sz="3600" dirty="0"/>
          </a:p>
        </p:txBody>
      </p:sp>
      <p:sp>
        <p:nvSpPr>
          <p:cNvPr id="17" name="Text 15"/>
          <p:cNvSpPr/>
          <p:nvPr/>
        </p:nvSpPr>
        <p:spPr>
          <a:xfrm>
            <a:off x="3200400" y="4005072"/>
            <a:ext cx="1005840" cy="4160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APIs</a:t>
            </a:r>
            <a:endParaRPr lang="en-US" sz="1200" dirty="0"/>
          </a:p>
        </p:txBody>
      </p:sp>
      <p:pic>
        <p:nvPicPr>
          <p:cNvPr id="18" name="Image 0" descr="preencoded.png">    </p:cNvPr>
          <p:cNvPicPr>
            <a:picLocks noChangeAspect="1"/>
          </p:cNvPicPr>
          <p:nvPr/>
        </p:nvPicPr>
        <p:blipFill>
          <a:blip r:embed="rId1">
            <a:alphaModFix amt="85000"/>
          </a:blip>
          <a:stretch>
            <a:fillRect/>
          </a:stretch>
        </p:blipFill>
        <p:spPr>
          <a:xfrm>
            <a:off x="5943600" y="731520"/>
            <a:ext cx="2560320" cy="2560320"/>
          </a:xfrm>
          <a:prstGeom prst="rect">
            <a:avLst/>
          </a:prstGeom>
        </p:spPr>
      </p:pic>
      <p:sp>
        <p:nvSpPr>
          <p:cNvPr id="19" name="Text 16"/>
          <p:cNvSpPr/>
          <p:nvPr/>
        </p:nvSpPr>
        <p:spPr>
          <a:xfrm>
            <a:off x="4937760" y="438912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C8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prisepulse-two.vercel.app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4937760" y="466344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Presented by Krish Shah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8869680" y="4846320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0C85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65760" y="182880"/>
            <a:ext cx="1280160" cy="256032"/>
          </a:xfrm>
          <a:prstGeom prst="rect">
            <a:avLst/>
          </a:prstGeom>
          <a:solidFill>
            <a:srgbClr val="00C853">
              <a:alpha val="20000"/>
            </a:srgbClr>
          </a:solidFill>
          <a:ln w="12700">
            <a:solidFill>
              <a:srgbClr val="00C85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82880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C8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BACKGROUND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65760" y="59436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Every investor has the same question...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365760" y="1371600"/>
            <a:ext cx="8412480" cy="1371600"/>
          </a:xfrm>
          <a:prstGeom prst="rect">
            <a:avLst/>
          </a:prstGeom>
          <a:solidFill>
            <a:srgbClr val="131C2E"/>
          </a:solidFill>
          <a:ln w="12700">
            <a:solidFill>
              <a:srgbClr val="1F293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65760" y="1371600"/>
            <a:ext cx="54864" cy="1371600"/>
          </a:xfrm>
          <a:prstGeom prst="rect">
            <a:avLst/>
          </a:prstGeom>
          <a:solidFill>
            <a:srgbClr val="00C85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94360" y="1417320"/>
            <a:ext cx="8046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"Where is NIFTY right now? How is my portfolio doing? Should I buy or sell?"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365760" y="2926080"/>
            <a:ext cx="2651760" cy="1737360"/>
          </a:xfrm>
          <a:prstGeom prst="rect">
            <a:avLst/>
          </a:prstGeom>
          <a:solidFill>
            <a:srgbClr val="0F1929"/>
          </a:solidFill>
          <a:ln w="12700">
            <a:solidFill>
              <a:srgbClr val="1F293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65760" y="2926080"/>
            <a:ext cx="2651760" cy="45720"/>
          </a:xfrm>
          <a:prstGeom prst="rect">
            <a:avLst/>
          </a:prstGeom>
          <a:solidFill>
            <a:srgbClr val="00C85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3035808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Dependent on Big Apps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02920" y="3520440"/>
            <a:ext cx="2377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Millions of Indians rely on Moneycontrol and Zerodha daily — but how do these platforms actually work?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200400" y="2926080"/>
            <a:ext cx="2651760" cy="1737360"/>
          </a:xfrm>
          <a:prstGeom prst="rect">
            <a:avLst/>
          </a:prstGeom>
          <a:solidFill>
            <a:srgbClr val="0F1929"/>
          </a:solidFill>
          <a:ln w="12700">
            <a:solidFill>
              <a:srgbClr val="1F293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3200400" y="2926080"/>
            <a:ext cx="2651760" cy="45720"/>
          </a:xfrm>
          <a:prstGeom prst="rect">
            <a:avLst/>
          </a:prstGeom>
          <a:solidFill>
            <a:srgbClr val="00C85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337560" y="3035808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 Learning Resource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3337560" y="3520440"/>
            <a:ext cx="2377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use these apps every day but have no idea about WebSockets, real-time APIs, or JWT authentication behind them.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035040" y="2926080"/>
            <a:ext cx="2651760" cy="1737360"/>
          </a:xfrm>
          <a:prstGeom prst="rect">
            <a:avLst/>
          </a:prstGeom>
          <a:solidFill>
            <a:srgbClr val="0F1929"/>
          </a:solidFill>
          <a:ln w="12700">
            <a:solidFill>
              <a:srgbClr val="1F293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035040" y="2926080"/>
            <a:ext cx="2651760" cy="45720"/>
          </a:xfrm>
          <a:prstGeom prst="rect">
            <a:avLst/>
          </a:prstGeom>
          <a:solidFill>
            <a:srgbClr val="00C85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172200" y="3035808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Gap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172200" y="3520440"/>
            <a:ext cx="2377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There's a massive gap between using a financial app and understanding how to actually build one from scratch.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8869680" y="4846320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0C85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65760" y="182880"/>
            <a:ext cx="1280160" cy="256032"/>
          </a:xfrm>
          <a:prstGeom prst="rect">
            <a:avLst/>
          </a:prstGeom>
          <a:solidFill>
            <a:srgbClr val="00C853">
              <a:alpha val="20000"/>
            </a:srgbClr>
          </a:solidFill>
          <a:ln w="12700">
            <a:solidFill>
              <a:srgbClr val="00C85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82880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C8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65760" y="5943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Meet PrisePulse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365760" y="11887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real-time financial intelligence platform — built entirely from scratch using modern web technologies.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20040" y="1691640"/>
            <a:ext cx="1920240" cy="1325880"/>
          </a:xfrm>
          <a:prstGeom prst="rect">
            <a:avLst/>
          </a:prstGeom>
          <a:solidFill>
            <a:srgbClr val="0D1626"/>
          </a:solidFill>
          <a:ln w="12700">
            <a:solidFill>
              <a:srgbClr val="1F293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320040" y="1691640"/>
            <a:ext cx="1920240" cy="45720"/>
          </a:xfrm>
          <a:prstGeom prst="rect">
            <a:avLst/>
          </a:prstGeom>
          <a:solidFill>
            <a:srgbClr val="00C853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9768" y="1828800"/>
            <a:ext cx="320040" cy="32004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822960" y="1801368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Live Markets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411480" y="224028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NIFTY, SENSEX, BANK NIFTY every 10s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2468880" y="1691640"/>
            <a:ext cx="1920240" cy="1325880"/>
          </a:xfrm>
          <a:prstGeom prst="rect">
            <a:avLst/>
          </a:prstGeom>
          <a:solidFill>
            <a:srgbClr val="0D1626"/>
          </a:solidFill>
          <a:ln w="12700">
            <a:solidFill>
              <a:srgbClr val="1F293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2468880" y="1691640"/>
            <a:ext cx="1920240" cy="45720"/>
          </a:xfrm>
          <a:prstGeom prst="rect">
            <a:avLst/>
          </a:prstGeom>
          <a:solidFill>
            <a:srgbClr val="00BCD4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78608" y="1828800"/>
            <a:ext cx="320040" cy="320040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2971800" y="1801368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Crypto</a:t>
            </a:r>
            <a:endParaRPr lang="en-US" sz="1200" dirty="0"/>
          </a:p>
        </p:txBody>
      </p:sp>
      <p:sp>
        <p:nvSpPr>
          <p:cNvPr id="16" name="Text 12"/>
          <p:cNvSpPr/>
          <p:nvPr/>
        </p:nvSpPr>
        <p:spPr>
          <a:xfrm>
            <a:off x="2560320" y="224028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15 coins in INR via CoinGecko</a:t>
            </a:r>
            <a:endParaRPr lang="en-US" sz="1000" dirty="0"/>
          </a:p>
        </p:txBody>
      </p:sp>
      <p:sp>
        <p:nvSpPr>
          <p:cNvPr id="17" name="Shape 13"/>
          <p:cNvSpPr/>
          <p:nvPr/>
        </p:nvSpPr>
        <p:spPr>
          <a:xfrm>
            <a:off x="4617720" y="1691640"/>
            <a:ext cx="1920240" cy="1325880"/>
          </a:xfrm>
          <a:prstGeom prst="rect">
            <a:avLst/>
          </a:prstGeom>
          <a:solidFill>
            <a:srgbClr val="0D1626"/>
          </a:solidFill>
          <a:ln w="12700">
            <a:solidFill>
              <a:srgbClr val="1F293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4617720" y="1691640"/>
            <a:ext cx="1920240" cy="45720"/>
          </a:xfrm>
          <a:prstGeom prst="rect">
            <a:avLst/>
          </a:prstGeom>
          <a:solidFill>
            <a:srgbClr val="00E676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27448" y="1828800"/>
            <a:ext cx="320040" cy="320040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5120640" y="1801368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Market News</a:t>
            </a:r>
            <a:endParaRPr lang="en-US" sz="1200" dirty="0"/>
          </a:p>
        </p:txBody>
      </p:sp>
      <p:sp>
        <p:nvSpPr>
          <p:cNvPr id="21" name="Text 16"/>
          <p:cNvSpPr/>
          <p:nvPr/>
        </p:nvSpPr>
        <p:spPr>
          <a:xfrm>
            <a:off x="4709160" y="224028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news from ET, Moneycontrol, BS</a:t>
            </a:r>
            <a:endParaRPr lang="en-US" sz="1000" dirty="0"/>
          </a:p>
        </p:txBody>
      </p:sp>
      <p:sp>
        <p:nvSpPr>
          <p:cNvPr id="22" name="Shape 17"/>
          <p:cNvSpPr/>
          <p:nvPr/>
        </p:nvSpPr>
        <p:spPr>
          <a:xfrm>
            <a:off x="6766560" y="1691640"/>
            <a:ext cx="1920240" cy="1325880"/>
          </a:xfrm>
          <a:prstGeom prst="rect">
            <a:avLst/>
          </a:prstGeom>
          <a:solidFill>
            <a:srgbClr val="0D1626"/>
          </a:solidFill>
          <a:ln w="12700">
            <a:solidFill>
              <a:srgbClr val="1F293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23" name="Shape 18"/>
          <p:cNvSpPr/>
          <p:nvPr/>
        </p:nvSpPr>
        <p:spPr>
          <a:xfrm>
            <a:off x="6766560" y="1691640"/>
            <a:ext cx="1920240" cy="45720"/>
          </a:xfrm>
          <a:prstGeom prst="rect">
            <a:avLst/>
          </a:prstGeom>
          <a:solidFill>
            <a:srgbClr val="00C853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76288" y="1828800"/>
            <a:ext cx="320040" cy="320040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7269480" y="1801368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Mutual Funds</a:t>
            </a:r>
            <a:endParaRPr lang="en-US" sz="1200" dirty="0"/>
          </a:p>
        </p:txBody>
      </p:sp>
      <p:sp>
        <p:nvSpPr>
          <p:cNvPr id="26" name="Text 20"/>
          <p:cNvSpPr/>
          <p:nvPr/>
        </p:nvSpPr>
        <p:spPr>
          <a:xfrm>
            <a:off x="6858000" y="224028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NAV from AMFI India</a:t>
            </a:r>
            <a:endParaRPr lang="en-US" sz="1000" dirty="0"/>
          </a:p>
        </p:txBody>
      </p:sp>
      <p:sp>
        <p:nvSpPr>
          <p:cNvPr id="27" name="Shape 21"/>
          <p:cNvSpPr/>
          <p:nvPr/>
        </p:nvSpPr>
        <p:spPr>
          <a:xfrm>
            <a:off x="320040" y="3200400"/>
            <a:ext cx="1920240" cy="1325880"/>
          </a:xfrm>
          <a:prstGeom prst="rect">
            <a:avLst/>
          </a:prstGeom>
          <a:solidFill>
            <a:srgbClr val="0D1626"/>
          </a:solidFill>
          <a:ln w="12700">
            <a:solidFill>
              <a:srgbClr val="1F293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28" name="Shape 22"/>
          <p:cNvSpPr/>
          <p:nvPr/>
        </p:nvSpPr>
        <p:spPr>
          <a:xfrm>
            <a:off x="320040" y="3200400"/>
            <a:ext cx="1920240" cy="45720"/>
          </a:xfrm>
          <a:prstGeom prst="rect">
            <a:avLst/>
          </a:prstGeom>
          <a:solidFill>
            <a:srgbClr val="00BCD4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2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9768" y="3337560"/>
            <a:ext cx="320040" cy="320040"/>
          </a:xfrm>
          <a:prstGeom prst="rect">
            <a:avLst/>
          </a:prstGeom>
        </p:spPr>
      </p:pic>
      <p:sp>
        <p:nvSpPr>
          <p:cNvPr id="30" name="Text 23"/>
          <p:cNvSpPr/>
          <p:nvPr/>
        </p:nvSpPr>
        <p:spPr>
          <a:xfrm>
            <a:off x="822960" y="3310128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Portfolio Tracker</a:t>
            </a:r>
            <a:endParaRPr lang="en-US" sz="1200" dirty="0"/>
          </a:p>
        </p:txBody>
      </p:sp>
      <p:sp>
        <p:nvSpPr>
          <p:cNvPr id="31" name="Text 24"/>
          <p:cNvSpPr/>
          <p:nvPr/>
        </p:nvSpPr>
        <p:spPr>
          <a:xfrm>
            <a:off x="411480" y="374904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stocks, track P&amp;L in real time</a:t>
            </a:r>
            <a:endParaRPr lang="en-US" sz="1000" dirty="0"/>
          </a:p>
        </p:txBody>
      </p:sp>
      <p:sp>
        <p:nvSpPr>
          <p:cNvPr id="32" name="Shape 25"/>
          <p:cNvSpPr/>
          <p:nvPr/>
        </p:nvSpPr>
        <p:spPr>
          <a:xfrm>
            <a:off x="2468880" y="3200400"/>
            <a:ext cx="1920240" cy="1325880"/>
          </a:xfrm>
          <a:prstGeom prst="rect">
            <a:avLst/>
          </a:prstGeom>
          <a:solidFill>
            <a:srgbClr val="0D1626"/>
          </a:solidFill>
          <a:ln w="12700">
            <a:solidFill>
              <a:srgbClr val="1F293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33" name="Shape 26"/>
          <p:cNvSpPr/>
          <p:nvPr/>
        </p:nvSpPr>
        <p:spPr>
          <a:xfrm>
            <a:off x="2468880" y="3200400"/>
            <a:ext cx="1920240" cy="45720"/>
          </a:xfrm>
          <a:prstGeom prst="rect">
            <a:avLst/>
          </a:prstGeom>
          <a:solidFill>
            <a:srgbClr val="00E676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34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578608" y="3337560"/>
            <a:ext cx="320040" cy="320040"/>
          </a:xfrm>
          <a:prstGeom prst="rect">
            <a:avLst/>
          </a:prstGeom>
        </p:spPr>
      </p:pic>
      <p:sp>
        <p:nvSpPr>
          <p:cNvPr id="35" name="Text 27"/>
          <p:cNvSpPr/>
          <p:nvPr/>
        </p:nvSpPr>
        <p:spPr>
          <a:xfrm>
            <a:off x="2971800" y="3310128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Watchlist</a:t>
            </a:r>
            <a:endParaRPr lang="en-US" sz="1200" dirty="0"/>
          </a:p>
        </p:txBody>
      </p:sp>
      <p:sp>
        <p:nvSpPr>
          <p:cNvPr id="36" name="Text 28"/>
          <p:cNvSpPr/>
          <p:nvPr/>
        </p:nvSpPr>
        <p:spPr>
          <a:xfrm>
            <a:off x="2560320" y="374904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Personalised list saved to cloud DB</a:t>
            </a:r>
            <a:endParaRPr lang="en-US" sz="1000" dirty="0"/>
          </a:p>
        </p:txBody>
      </p:sp>
      <p:sp>
        <p:nvSpPr>
          <p:cNvPr id="37" name="Shape 29"/>
          <p:cNvSpPr/>
          <p:nvPr/>
        </p:nvSpPr>
        <p:spPr>
          <a:xfrm>
            <a:off x="4617720" y="3200400"/>
            <a:ext cx="1920240" cy="1325880"/>
          </a:xfrm>
          <a:prstGeom prst="rect">
            <a:avLst/>
          </a:prstGeom>
          <a:solidFill>
            <a:srgbClr val="0D1626"/>
          </a:solidFill>
          <a:ln w="12700">
            <a:solidFill>
              <a:srgbClr val="1F293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38" name="Shape 30"/>
          <p:cNvSpPr/>
          <p:nvPr/>
        </p:nvSpPr>
        <p:spPr>
          <a:xfrm>
            <a:off x="4617720" y="3200400"/>
            <a:ext cx="1920240" cy="45720"/>
          </a:xfrm>
          <a:prstGeom prst="rect">
            <a:avLst/>
          </a:prstGeom>
          <a:solidFill>
            <a:srgbClr val="00C853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39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727448" y="3337560"/>
            <a:ext cx="320040" cy="320040"/>
          </a:xfrm>
          <a:prstGeom prst="rect">
            <a:avLst/>
          </a:prstGeom>
        </p:spPr>
      </p:pic>
      <p:sp>
        <p:nvSpPr>
          <p:cNvPr id="40" name="Text 31"/>
          <p:cNvSpPr/>
          <p:nvPr/>
        </p:nvSpPr>
        <p:spPr>
          <a:xfrm>
            <a:off x="5120640" y="3310128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7 Calculators</a:t>
            </a:r>
            <a:endParaRPr lang="en-US" sz="1200" dirty="0"/>
          </a:p>
        </p:txBody>
      </p:sp>
      <p:sp>
        <p:nvSpPr>
          <p:cNvPr id="41" name="Text 32"/>
          <p:cNvSpPr/>
          <p:nvPr/>
        </p:nvSpPr>
        <p:spPr>
          <a:xfrm>
            <a:off x="4709160" y="374904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SIP, Brokerage, EMI, Position Size...</a:t>
            </a:r>
            <a:endParaRPr lang="en-US" sz="1000" dirty="0"/>
          </a:p>
        </p:txBody>
      </p:sp>
      <p:sp>
        <p:nvSpPr>
          <p:cNvPr id="42" name="Shape 33"/>
          <p:cNvSpPr/>
          <p:nvPr/>
        </p:nvSpPr>
        <p:spPr>
          <a:xfrm>
            <a:off x="6766560" y="3200400"/>
            <a:ext cx="1920240" cy="1325880"/>
          </a:xfrm>
          <a:prstGeom prst="rect">
            <a:avLst/>
          </a:prstGeom>
          <a:solidFill>
            <a:srgbClr val="0D1626"/>
          </a:solidFill>
          <a:ln w="12700">
            <a:solidFill>
              <a:srgbClr val="1F293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43" name="Shape 34"/>
          <p:cNvSpPr/>
          <p:nvPr/>
        </p:nvSpPr>
        <p:spPr>
          <a:xfrm>
            <a:off x="6766560" y="3200400"/>
            <a:ext cx="1920240" cy="45720"/>
          </a:xfrm>
          <a:prstGeom prst="rect">
            <a:avLst/>
          </a:prstGeom>
          <a:solidFill>
            <a:srgbClr val="00BCD4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44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876288" y="3337560"/>
            <a:ext cx="320040" cy="320040"/>
          </a:xfrm>
          <a:prstGeom prst="rect">
            <a:avLst/>
          </a:prstGeom>
        </p:spPr>
      </p:pic>
      <p:sp>
        <p:nvSpPr>
          <p:cNvPr id="45" name="Text 35"/>
          <p:cNvSpPr/>
          <p:nvPr/>
        </p:nvSpPr>
        <p:spPr>
          <a:xfrm>
            <a:off x="7269480" y="3310128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Authentication</a:t>
            </a:r>
            <a:endParaRPr lang="en-US" sz="1200" dirty="0"/>
          </a:p>
        </p:txBody>
      </p:sp>
      <p:sp>
        <p:nvSpPr>
          <p:cNvPr id="46" name="Text 36"/>
          <p:cNvSpPr/>
          <p:nvPr/>
        </p:nvSpPr>
        <p:spPr>
          <a:xfrm>
            <a:off x="6858000" y="374904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JWT + Bcrypt secure login</a:t>
            </a:r>
            <a:endParaRPr lang="en-US" sz="1000" dirty="0"/>
          </a:p>
        </p:txBody>
      </p:sp>
      <p:sp>
        <p:nvSpPr>
          <p:cNvPr id="47" name="Text 37"/>
          <p:cNvSpPr/>
          <p:nvPr/>
        </p:nvSpPr>
        <p:spPr>
          <a:xfrm>
            <a:off x="8869680" y="4846320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0C85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65760" y="182880"/>
            <a:ext cx="1280160" cy="256032"/>
          </a:xfrm>
          <a:prstGeom prst="rect">
            <a:avLst/>
          </a:prstGeom>
          <a:solidFill>
            <a:srgbClr val="00C853">
              <a:alpha val="20000"/>
            </a:srgbClr>
          </a:solidFill>
          <a:ln w="12700">
            <a:solidFill>
              <a:srgbClr val="00C85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82880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C8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TECHNOLOGY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65760" y="59436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Built with the right tools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320040" y="1280160"/>
            <a:ext cx="1920240" cy="3520440"/>
          </a:xfrm>
          <a:prstGeom prst="rect">
            <a:avLst/>
          </a:prstGeom>
          <a:solidFill>
            <a:srgbClr val="0D1626"/>
          </a:solidFill>
          <a:ln w="12700">
            <a:solidFill>
              <a:srgbClr val="1F293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20040" y="1280160"/>
            <a:ext cx="1920240" cy="320040"/>
          </a:xfrm>
          <a:prstGeom prst="rect">
            <a:avLst/>
          </a:prstGeom>
          <a:solidFill>
            <a:srgbClr val="00C853">
              <a:alpha val="1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28016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00C85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FRONTEND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02920" y="1737360"/>
            <a:ext cx="73152" cy="73152"/>
          </a:xfrm>
          <a:prstGeom prst="ellipse">
            <a:avLst/>
          </a:prstGeom>
          <a:solidFill>
            <a:srgbClr val="00C85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709928"/>
            <a:ext cx="1508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React.js 18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02920" y="2212848"/>
            <a:ext cx="73152" cy="73152"/>
          </a:xfrm>
          <a:prstGeom prst="ellipse">
            <a:avLst/>
          </a:prstGeom>
          <a:solidFill>
            <a:srgbClr val="00C85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2185416"/>
            <a:ext cx="1508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Tailwind CSS 3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02920" y="2688336"/>
            <a:ext cx="73152" cy="73152"/>
          </a:xfrm>
          <a:prstGeom prst="ellipse">
            <a:avLst/>
          </a:prstGeom>
          <a:solidFill>
            <a:srgbClr val="00C85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2660904"/>
            <a:ext cx="1508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Recharts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02920" y="3163824"/>
            <a:ext cx="73152" cy="73152"/>
          </a:xfrm>
          <a:prstGeom prst="ellipse">
            <a:avLst/>
          </a:prstGeom>
          <a:solidFill>
            <a:srgbClr val="00C85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3136392"/>
            <a:ext cx="1508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Socket.io Client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02920" y="3639312"/>
            <a:ext cx="73152" cy="73152"/>
          </a:xfrm>
          <a:prstGeom prst="ellipse">
            <a:avLst/>
          </a:prstGeom>
          <a:solidFill>
            <a:srgbClr val="00C85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3611880"/>
            <a:ext cx="1508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Axios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02920" y="4114800"/>
            <a:ext cx="73152" cy="73152"/>
          </a:xfrm>
          <a:prstGeom prst="ellipse">
            <a:avLst/>
          </a:prstGeom>
          <a:solidFill>
            <a:srgbClr val="00C85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4087368"/>
            <a:ext cx="1508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Router DOM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468880" y="1280160"/>
            <a:ext cx="1920240" cy="3520440"/>
          </a:xfrm>
          <a:prstGeom prst="rect">
            <a:avLst/>
          </a:prstGeom>
          <a:solidFill>
            <a:srgbClr val="0D1626"/>
          </a:solidFill>
          <a:ln w="12700">
            <a:solidFill>
              <a:srgbClr val="1F293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2468880" y="1280160"/>
            <a:ext cx="1920240" cy="320040"/>
          </a:xfrm>
          <a:prstGeom prst="rect">
            <a:avLst/>
          </a:prstGeom>
          <a:solidFill>
            <a:srgbClr val="00BCD4">
              <a:alpha val="1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560320" y="128016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00BCD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BACKEND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2651760" y="1737360"/>
            <a:ext cx="73152" cy="73152"/>
          </a:xfrm>
          <a:prstGeom prst="ellipse">
            <a:avLst/>
          </a:prstGeom>
          <a:solidFill>
            <a:srgbClr val="00BCD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788920" y="1709928"/>
            <a:ext cx="1508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Node.js 22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2651760" y="2212848"/>
            <a:ext cx="73152" cy="73152"/>
          </a:xfrm>
          <a:prstGeom prst="ellipse">
            <a:avLst/>
          </a:prstGeom>
          <a:solidFill>
            <a:srgbClr val="00BCD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788920" y="2185416"/>
            <a:ext cx="1508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Express.js 4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2651760" y="2688336"/>
            <a:ext cx="73152" cy="73152"/>
          </a:xfrm>
          <a:prstGeom prst="ellipse">
            <a:avLst/>
          </a:prstGeom>
          <a:solidFill>
            <a:srgbClr val="00BCD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788920" y="2660904"/>
            <a:ext cx="1508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Socket.io 4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2651760" y="3163824"/>
            <a:ext cx="73152" cy="73152"/>
          </a:xfrm>
          <a:prstGeom prst="ellipse">
            <a:avLst/>
          </a:prstGeom>
          <a:solidFill>
            <a:srgbClr val="00BCD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788920" y="3136392"/>
            <a:ext cx="1508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Node-cron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2651760" y="3639312"/>
            <a:ext cx="73152" cy="73152"/>
          </a:xfrm>
          <a:prstGeom prst="ellipse">
            <a:avLst/>
          </a:prstGeom>
          <a:solidFill>
            <a:srgbClr val="00BCD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2788920" y="3611880"/>
            <a:ext cx="1508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Mongoose 7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2651760" y="4114800"/>
            <a:ext cx="73152" cy="73152"/>
          </a:xfrm>
          <a:prstGeom prst="ellipse">
            <a:avLst/>
          </a:prstGeom>
          <a:solidFill>
            <a:srgbClr val="00BCD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788920" y="4087368"/>
            <a:ext cx="1508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JWT + Bcryptjs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4617720" y="1280160"/>
            <a:ext cx="1920240" cy="3520440"/>
          </a:xfrm>
          <a:prstGeom prst="rect">
            <a:avLst/>
          </a:prstGeom>
          <a:solidFill>
            <a:srgbClr val="0D1626"/>
          </a:solidFill>
          <a:ln w="12700">
            <a:solidFill>
              <a:srgbClr val="1F293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4617720" y="1280160"/>
            <a:ext cx="1920240" cy="320040"/>
          </a:xfrm>
          <a:prstGeom prst="rect">
            <a:avLst/>
          </a:prstGeom>
          <a:solidFill>
            <a:srgbClr val="00E676">
              <a:alpha val="1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709160" y="128016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00E67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DATABASE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4800600" y="1737360"/>
            <a:ext cx="73152" cy="73152"/>
          </a:xfrm>
          <a:prstGeom prst="ellipse">
            <a:avLst/>
          </a:prstGeom>
          <a:solidFill>
            <a:srgbClr val="00E67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937760" y="1709928"/>
            <a:ext cx="1508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MongoDB Atlas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4800600" y="2212848"/>
            <a:ext cx="73152" cy="73152"/>
          </a:xfrm>
          <a:prstGeom prst="ellipse">
            <a:avLst/>
          </a:prstGeom>
          <a:solidFill>
            <a:srgbClr val="00E67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937760" y="2185416"/>
            <a:ext cx="1508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M0 Free Cluster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4800600" y="2688336"/>
            <a:ext cx="73152" cy="73152"/>
          </a:xfrm>
          <a:prstGeom prst="ellipse">
            <a:avLst/>
          </a:prstGeom>
          <a:solidFill>
            <a:srgbClr val="00E67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937760" y="2660904"/>
            <a:ext cx="1508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Mumbai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4800600" y="3163824"/>
            <a:ext cx="73152" cy="73152"/>
          </a:xfrm>
          <a:prstGeom prst="ellipse">
            <a:avLst/>
          </a:prstGeom>
          <a:solidFill>
            <a:srgbClr val="00E67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937760" y="3136392"/>
            <a:ext cx="1508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512MB Storage</a:t>
            </a:r>
            <a:endParaRPr lang="en-US" sz="1200" dirty="0"/>
          </a:p>
        </p:txBody>
      </p:sp>
      <p:sp>
        <p:nvSpPr>
          <p:cNvPr id="47" name="Shape 45"/>
          <p:cNvSpPr/>
          <p:nvPr/>
        </p:nvSpPr>
        <p:spPr>
          <a:xfrm>
            <a:off x="4800600" y="3639312"/>
            <a:ext cx="73152" cy="73152"/>
          </a:xfrm>
          <a:prstGeom prst="ellipse">
            <a:avLst/>
          </a:prstGeom>
          <a:solidFill>
            <a:srgbClr val="00E67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937760" y="3611880"/>
            <a:ext cx="1508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 Backup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4800600" y="4114800"/>
            <a:ext cx="73152" cy="73152"/>
          </a:xfrm>
          <a:prstGeom prst="ellipse">
            <a:avLst/>
          </a:prstGeom>
          <a:solidFill>
            <a:srgbClr val="00E67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937760" y="4087368"/>
            <a:ext cx="1508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Mongoose ODM</a:t>
            </a:r>
            <a:endParaRPr lang="en-US" sz="1200" dirty="0"/>
          </a:p>
        </p:txBody>
      </p:sp>
      <p:sp>
        <p:nvSpPr>
          <p:cNvPr id="51" name="Shape 49"/>
          <p:cNvSpPr/>
          <p:nvPr/>
        </p:nvSpPr>
        <p:spPr>
          <a:xfrm>
            <a:off x="6766560" y="1280160"/>
            <a:ext cx="1920240" cy="3520440"/>
          </a:xfrm>
          <a:prstGeom prst="rect">
            <a:avLst/>
          </a:prstGeom>
          <a:solidFill>
            <a:srgbClr val="0D1626"/>
          </a:solidFill>
          <a:ln w="12700">
            <a:solidFill>
              <a:srgbClr val="1F293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52" name="Shape 50"/>
          <p:cNvSpPr/>
          <p:nvPr/>
        </p:nvSpPr>
        <p:spPr>
          <a:xfrm>
            <a:off x="6766560" y="1280160"/>
            <a:ext cx="1920240" cy="320040"/>
          </a:xfrm>
          <a:prstGeom prst="rect">
            <a:avLst/>
          </a:prstGeom>
          <a:solidFill>
            <a:srgbClr val="FFB300">
              <a:alpha val="1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858000" y="128016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FFB3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DEPLOYMENT</a:t>
            </a:r>
            <a:endParaRPr lang="en-US" sz="1000" dirty="0"/>
          </a:p>
        </p:txBody>
      </p:sp>
      <p:sp>
        <p:nvSpPr>
          <p:cNvPr id="54" name="Shape 52"/>
          <p:cNvSpPr/>
          <p:nvPr/>
        </p:nvSpPr>
        <p:spPr>
          <a:xfrm>
            <a:off x="6949440" y="1737360"/>
            <a:ext cx="73152" cy="73152"/>
          </a:xfrm>
          <a:prstGeom prst="ellipse">
            <a:avLst/>
          </a:prstGeom>
          <a:solidFill>
            <a:srgbClr val="FFB3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7086600" y="1709928"/>
            <a:ext cx="1508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Vercel (Frontend)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6949440" y="2212848"/>
            <a:ext cx="73152" cy="73152"/>
          </a:xfrm>
          <a:prstGeom prst="ellipse">
            <a:avLst/>
          </a:prstGeom>
          <a:solidFill>
            <a:srgbClr val="FFB3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086600" y="2185416"/>
            <a:ext cx="1508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Render (Backend)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949440" y="2688336"/>
            <a:ext cx="73152" cy="73152"/>
          </a:xfrm>
          <a:prstGeom prst="ellipse">
            <a:avLst/>
          </a:prstGeom>
          <a:solidFill>
            <a:srgbClr val="FFB3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7086600" y="2660904"/>
            <a:ext cx="1508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CI/CD</a:t>
            </a:r>
            <a:endParaRPr lang="en-US" sz="1200" dirty="0"/>
          </a:p>
        </p:txBody>
      </p:sp>
      <p:sp>
        <p:nvSpPr>
          <p:cNvPr id="60" name="Shape 58"/>
          <p:cNvSpPr/>
          <p:nvPr/>
        </p:nvSpPr>
        <p:spPr>
          <a:xfrm>
            <a:off x="6949440" y="3163824"/>
            <a:ext cx="73152" cy="73152"/>
          </a:xfrm>
          <a:prstGeom prst="ellipse">
            <a:avLst/>
          </a:prstGeom>
          <a:solidFill>
            <a:srgbClr val="FFB3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7086600" y="3136392"/>
            <a:ext cx="1508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 Deploy</a:t>
            </a:r>
            <a:endParaRPr lang="en-US" sz="1200" dirty="0"/>
          </a:p>
        </p:txBody>
      </p:sp>
      <p:sp>
        <p:nvSpPr>
          <p:cNvPr id="62" name="Shape 60"/>
          <p:cNvSpPr/>
          <p:nvPr/>
        </p:nvSpPr>
        <p:spPr>
          <a:xfrm>
            <a:off x="6949440" y="3639312"/>
            <a:ext cx="73152" cy="73152"/>
          </a:xfrm>
          <a:prstGeom prst="ellipse">
            <a:avLst/>
          </a:prstGeom>
          <a:solidFill>
            <a:srgbClr val="FFB3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7086600" y="3611880"/>
            <a:ext cx="1508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CDN</a:t>
            </a:r>
            <a:endParaRPr lang="en-US" sz="1200" dirty="0"/>
          </a:p>
        </p:txBody>
      </p:sp>
      <p:sp>
        <p:nvSpPr>
          <p:cNvPr id="64" name="Shape 62"/>
          <p:cNvSpPr/>
          <p:nvPr/>
        </p:nvSpPr>
        <p:spPr>
          <a:xfrm>
            <a:off x="6949440" y="4114800"/>
            <a:ext cx="73152" cy="73152"/>
          </a:xfrm>
          <a:prstGeom prst="ellipse">
            <a:avLst/>
          </a:prstGeom>
          <a:solidFill>
            <a:srgbClr val="FFB3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7086600" y="4087368"/>
            <a:ext cx="1508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Tier</a:t>
            </a:r>
            <a:endParaRPr lang="en-US" sz="1200" dirty="0"/>
          </a:p>
        </p:txBody>
      </p:sp>
      <p:sp>
        <p:nvSpPr>
          <p:cNvPr id="66" name="Text 64"/>
          <p:cNvSpPr/>
          <p:nvPr/>
        </p:nvSpPr>
        <p:spPr>
          <a:xfrm>
            <a:off x="457200" y="47548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 →  Express  →  MongoDB  →  NSE / CoinGecko / mfapi</a:t>
            </a:r>
            <a:endParaRPr lang="en-US" sz="1200" dirty="0"/>
          </a:p>
        </p:txBody>
      </p:sp>
      <p:sp>
        <p:nvSpPr>
          <p:cNvPr id="67" name="Text 65"/>
          <p:cNvSpPr/>
          <p:nvPr/>
        </p:nvSpPr>
        <p:spPr>
          <a:xfrm>
            <a:off x="8869680" y="4846320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0C85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65760" y="182880"/>
            <a:ext cx="1280160" cy="256032"/>
          </a:xfrm>
          <a:prstGeom prst="rect">
            <a:avLst/>
          </a:prstGeom>
          <a:solidFill>
            <a:srgbClr val="00BCD4">
              <a:alpha val="20000"/>
            </a:srgbClr>
          </a:solidFill>
          <a:ln w="12700">
            <a:solidFill>
              <a:srgbClr val="00BCD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82880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B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65760" y="59436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How it all connects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274320" y="1371600"/>
            <a:ext cx="2011680" cy="3200400"/>
          </a:xfrm>
          <a:prstGeom prst="rect">
            <a:avLst/>
          </a:prstGeom>
          <a:solidFill>
            <a:srgbClr val="0D1626"/>
          </a:solidFill>
          <a:ln w="12700">
            <a:solidFill>
              <a:srgbClr val="1F293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274320" y="1371600"/>
            <a:ext cx="2011680" cy="347472"/>
          </a:xfrm>
          <a:prstGeom prst="rect">
            <a:avLst/>
          </a:prstGeom>
          <a:solidFill>
            <a:srgbClr val="00C853">
              <a:alpha val="20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5760" y="137160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50" kern="0" dirty="0">
                <a:solidFill>
                  <a:srgbClr val="00C85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BROWSER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11480" y="1874520"/>
            <a:ext cx="1737360" cy="347472"/>
          </a:xfrm>
          <a:prstGeom prst="rect">
            <a:avLst/>
          </a:prstGeom>
          <a:solidFill>
            <a:srgbClr val="131C2E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1874520"/>
            <a:ext cx="1645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React.js UI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11480" y="2377440"/>
            <a:ext cx="1737360" cy="347472"/>
          </a:xfrm>
          <a:prstGeom prst="rect">
            <a:avLst/>
          </a:prstGeom>
          <a:solidFill>
            <a:srgbClr val="131C2E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200" y="2377440"/>
            <a:ext cx="1645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Socket.io Client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11480" y="2880360"/>
            <a:ext cx="1737360" cy="347472"/>
          </a:xfrm>
          <a:prstGeom prst="rect">
            <a:avLst/>
          </a:prstGeom>
          <a:solidFill>
            <a:srgbClr val="131C2E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7200" y="2880360"/>
            <a:ext cx="1645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Axios HTTP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11480" y="3383280"/>
            <a:ext cx="1737360" cy="347472"/>
          </a:xfrm>
          <a:prstGeom prst="rect">
            <a:avLst/>
          </a:prstGeom>
          <a:solidFill>
            <a:srgbClr val="131C2E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7200" y="3383280"/>
            <a:ext cx="1645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Router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11480" y="3886200"/>
            <a:ext cx="1737360" cy="347472"/>
          </a:xfrm>
          <a:prstGeom prst="rect">
            <a:avLst/>
          </a:prstGeom>
          <a:solidFill>
            <a:srgbClr val="131C2E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7200" y="3886200"/>
            <a:ext cx="1645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LocalStorage JWT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566160" y="1371600"/>
            <a:ext cx="2011680" cy="3200400"/>
          </a:xfrm>
          <a:prstGeom prst="rect">
            <a:avLst/>
          </a:prstGeom>
          <a:solidFill>
            <a:srgbClr val="0D1626"/>
          </a:solidFill>
          <a:ln w="12700">
            <a:solidFill>
              <a:srgbClr val="1F293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3566160" y="1371600"/>
            <a:ext cx="2011680" cy="347472"/>
          </a:xfrm>
          <a:prstGeom prst="rect">
            <a:avLst/>
          </a:prstGeom>
          <a:solidFill>
            <a:srgbClr val="00BCD4">
              <a:alpha val="20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657600" y="137160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50" kern="0" dirty="0">
                <a:solidFill>
                  <a:srgbClr val="00BCD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SERVER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703320" y="1874520"/>
            <a:ext cx="1737360" cy="347472"/>
          </a:xfrm>
          <a:prstGeom prst="rect">
            <a:avLst/>
          </a:prstGeom>
          <a:solidFill>
            <a:srgbClr val="131C2E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749040" y="1874520"/>
            <a:ext cx="1645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Express.js API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3703320" y="2377440"/>
            <a:ext cx="1737360" cy="347472"/>
          </a:xfrm>
          <a:prstGeom prst="rect">
            <a:avLst/>
          </a:prstGeom>
          <a:solidFill>
            <a:srgbClr val="131C2E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749040" y="2377440"/>
            <a:ext cx="1645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Socket.io WS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703320" y="2880360"/>
            <a:ext cx="1737360" cy="347472"/>
          </a:xfrm>
          <a:prstGeom prst="rect">
            <a:avLst/>
          </a:prstGeom>
          <a:solidFill>
            <a:srgbClr val="131C2E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749040" y="2880360"/>
            <a:ext cx="1645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Node-cron 10s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3703320" y="3383280"/>
            <a:ext cx="1737360" cy="347472"/>
          </a:xfrm>
          <a:prstGeom prst="rect">
            <a:avLst/>
          </a:prstGeom>
          <a:solidFill>
            <a:srgbClr val="131C2E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749040" y="3383280"/>
            <a:ext cx="1645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JWT Verify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703320" y="3886200"/>
            <a:ext cx="1737360" cy="347472"/>
          </a:xfrm>
          <a:prstGeom prst="rect">
            <a:avLst/>
          </a:prstGeom>
          <a:solidFill>
            <a:srgbClr val="131C2E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749040" y="3886200"/>
            <a:ext cx="1645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In-Memory Cache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6858000" y="1371600"/>
            <a:ext cx="2011680" cy="3200400"/>
          </a:xfrm>
          <a:prstGeom prst="rect">
            <a:avLst/>
          </a:prstGeom>
          <a:solidFill>
            <a:srgbClr val="0D1626"/>
          </a:solidFill>
          <a:ln w="12700">
            <a:solidFill>
              <a:srgbClr val="1F293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6858000" y="1371600"/>
            <a:ext cx="2011680" cy="347472"/>
          </a:xfrm>
          <a:prstGeom prst="rect">
            <a:avLst/>
          </a:prstGeom>
          <a:solidFill>
            <a:srgbClr val="00E676">
              <a:alpha val="20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949440" y="137160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50" kern="0" dirty="0">
                <a:solidFill>
                  <a:srgbClr val="00E67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DATA LAYER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6995160" y="1874520"/>
            <a:ext cx="1737360" cy="347472"/>
          </a:xfrm>
          <a:prstGeom prst="rect">
            <a:avLst/>
          </a:prstGeom>
          <a:solidFill>
            <a:srgbClr val="131C2E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040880" y="1874520"/>
            <a:ext cx="1645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MongoDB Atlas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6995160" y="2377440"/>
            <a:ext cx="1737360" cy="347472"/>
          </a:xfrm>
          <a:prstGeom prst="rect">
            <a:avLst/>
          </a:prstGeom>
          <a:solidFill>
            <a:srgbClr val="131C2E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040880" y="2377440"/>
            <a:ext cx="1645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NSE India API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6995160" y="2880360"/>
            <a:ext cx="1737360" cy="347472"/>
          </a:xfrm>
          <a:prstGeom prst="rect">
            <a:avLst/>
          </a:prstGeom>
          <a:solidFill>
            <a:srgbClr val="131C2E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040880" y="2880360"/>
            <a:ext cx="1645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CoinGecko API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6995160" y="3383280"/>
            <a:ext cx="1737360" cy="347472"/>
          </a:xfrm>
          <a:prstGeom prst="rect">
            <a:avLst/>
          </a:prstGeom>
          <a:solidFill>
            <a:srgbClr val="131C2E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040880" y="3383280"/>
            <a:ext cx="1645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mfapi.in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6995160" y="3886200"/>
            <a:ext cx="1737360" cy="347472"/>
          </a:xfrm>
          <a:prstGeom prst="rect">
            <a:avLst/>
          </a:prstGeom>
          <a:solidFill>
            <a:srgbClr val="131C2E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040880" y="3886200"/>
            <a:ext cx="1645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NewsAPI.org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2286000" y="2971800"/>
            <a:ext cx="1280160" cy="0"/>
          </a:xfrm>
          <a:prstGeom prst="line">
            <a:avLst/>
          </a:prstGeom>
          <a:noFill/>
          <a:ln w="25400">
            <a:solidFill>
              <a:srgbClr val="00C853"/>
            </a:solidFill>
            <a:prstDash val="dash"/>
          </a:ln>
        </p:spPr>
      </p:sp>
      <p:sp>
        <p:nvSpPr>
          <p:cNvPr id="46" name="Text 44"/>
          <p:cNvSpPr/>
          <p:nvPr/>
        </p:nvSpPr>
        <p:spPr>
          <a:xfrm>
            <a:off x="2286000" y="2743200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C8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 + WS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577840" y="2971800"/>
            <a:ext cx="1280160" cy="0"/>
          </a:xfrm>
          <a:prstGeom prst="line">
            <a:avLst/>
          </a:prstGeom>
          <a:noFill/>
          <a:ln w="25400">
            <a:solidFill>
              <a:srgbClr val="00BCD4"/>
            </a:solidFill>
            <a:prstDash val="dash"/>
          </a:ln>
        </p:spPr>
      </p:sp>
      <p:sp>
        <p:nvSpPr>
          <p:cNvPr id="48" name="Text 46"/>
          <p:cNvSpPr/>
          <p:nvPr/>
        </p:nvSpPr>
        <p:spPr>
          <a:xfrm>
            <a:off x="5577840" y="2743200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B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 APIs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8869680" y="4846320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0C85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65760" y="182880"/>
            <a:ext cx="1280160" cy="256032"/>
          </a:xfrm>
          <a:prstGeom prst="rect">
            <a:avLst/>
          </a:prstGeom>
          <a:solidFill>
            <a:srgbClr val="00C853">
              <a:alpha val="20000"/>
            </a:srgbClr>
          </a:solidFill>
          <a:ln w="12700">
            <a:solidFill>
              <a:srgbClr val="00C85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82880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C8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FEATURES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65760" y="59436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you see when you open the app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320040" y="1234440"/>
            <a:ext cx="502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C85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01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914400" y="1252728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Market Status Banner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914400" y="1554480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pulsing dot when NSE is open. Grey when closed. Calculated using IST timezone every request.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02920" y="1965960"/>
            <a:ext cx="0" cy="182880"/>
          </a:xfrm>
          <a:prstGeom prst="line">
            <a:avLst/>
          </a:prstGeom>
          <a:noFill/>
          <a:ln w="12700">
            <a:solidFill>
              <a:srgbClr val="00C853">
                <a:alpha val="4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0040" y="2148840"/>
            <a:ext cx="502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C85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02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914400" y="2167128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Live Index Cards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914400" y="2468880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NIFTY 50, SENSEX, BANK NIFTY, NIFTY IT — real prices from NSE India updating every 10 seconds via WebSocket.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02920" y="2880360"/>
            <a:ext cx="0" cy="182880"/>
          </a:xfrm>
          <a:prstGeom prst="line">
            <a:avLst/>
          </a:prstGeom>
          <a:noFill/>
          <a:ln w="12700">
            <a:solidFill>
              <a:srgbClr val="00C853">
                <a:alpha val="4000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0040" y="3063240"/>
            <a:ext cx="502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C85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03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914400" y="3081528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Gainers &amp; Losers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914400" y="3383280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10 movers from Nifty 50 with symbol, price, % change, and trading volume — live from NSE.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02920" y="3794760"/>
            <a:ext cx="0" cy="182880"/>
          </a:xfrm>
          <a:prstGeom prst="line">
            <a:avLst/>
          </a:prstGeom>
          <a:noFill/>
          <a:ln w="12700">
            <a:solidFill>
              <a:srgbClr val="00C853">
                <a:alpha val="4000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20040" y="3977640"/>
            <a:ext cx="502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C85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04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914400" y="3995928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Intraday Chart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914400" y="4297680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NIFTY 50 minute-by-minute price line chart for the current session built with Recharts.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120640" y="1234440"/>
            <a:ext cx="3657600" cy="3566160"/>
          </a:xfrm>
          <a:prstGeom prst="rect">
            <a:avLst/>
          </a:prstGeom>
          <a:solidFill>
            <a:srgbClr val="0D1626"/>
          </a:solidFill>
          <a:ln w="12700">
            <a:solidFill>
              <a:srgbClr val="1F293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5120640" y="1234440"/>
            <a:ext cx="3657600" cy="45720"/>
          </a:xfrm>
          <a:prstGeom prst="rect">
            <a:avLst/>
          </a:prstGeom>
          <a:solidFill>
            <a:srgbClr val="00C85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257800" y="137160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By The Numbers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5257800" y="1874520"/>
            <a:ext cx="3383280" cy="438912"/>
          </a:xfrm>
          <a:prstGeom prst="rect">
            <a:avLst/>
          </a:prstGeom>
          <a:solidFill>
            <a:srgbClr val="11182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303520" y="1874520"/>
            <a:ext cx="914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0C85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10s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6309360" y="1920240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 update interval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5257800" y="2404872"/>
            <a:ext cx="3383280" cy="438912"/>
          </a:xfrm>
          <a:prstGeom prst="rect">
            <a:avLst/>
          </a:prstGeom>
          <a:solidFill>
            <a:srgbClr val="131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303520" y="2404872"/>
            <a:ext cx="914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0C85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</a:t>
            </a:r>
            <a:endParaRPr lang="en-US" sz="2000" dirty="0"/>
          </a:p>
        </p:txBody>
      </p:sp>
      <p:sp>
        <p:nvSpPr>
          <p:cNvPr id="29" name="Text 27"/>
          <p:cNvSpPr/>
          <p:nvPr/>
        </p:nvSpPr>
        <p:spPr>
          <a:xfrm>
            <a:off x="6309360" y="2450592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External APIs integrated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5257800" y="2935224"/>
            <a:ext cx="3383280" cy="438912"/>
          </a:xfrm>
          <a:prstGeom prst="rect">
            <a:avLst/>
          </a:prstGeom>
          <a:solidFill>
            <a:srgbClr val="11182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303520" y="2935224"/>
            <a:ext cx="914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0C85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7</a:t>
            </a:r>
            <a:endParaRPr lang="en-US" sz="2000" dirty="0"/>
          </a:p>
        </p:txBody>
      </p:sp>
      <p:sp>
        <p:nvSpPr>
          <p:cNvPr id="32" name="Text 30"/>
          <p:cNvSpPr/>
          <p:nvPr/>
        </p:nvSpPr>
        <p:spPr>
          <a:xfrm>
            <a:off x="6309360" y="2980944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Pages in the app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5257800" y="3465576"/>
            <a:ext cx="3383280" cy="438912"/>
          </a:xfrm>
          <a:prstGeom prst="rect">
            <a:avLst/>
          </a:prstGeom>
          <a:solidFill>
            <a:srgbClr val="131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303520" y="3465576"/>
            <a:ext cx="914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0C85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endParaRPr lang="en-US" sz="2000" dirty="0"/>
          </a:p>
        </p:txBody>
      </p:sp>
      <p:sp>
        <p:nvSpPr>
          <p:cNvPr id="35" name="Text 33"/>
          <p:cNvSpPr/>
          <p:nvPr/>
        </p:nvSpPr>
        <p:spPr>
          <a:xfrm>
            <a:off x="6309360" y="3511296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to run (per month)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5257800" y="3995928"/>
            <a:ext cx="3383280" cy="438912"/>
          </a:xfrm>
          <a:prstGeom prst="rect">
            <a:avLst/>
          </a:prstGeom>
          <a:solidFill>
            <a:srgbClr val="11182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303520" y="3995928"/>
            <a:ext cx="914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0C85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24/7</a:t>
            </a:r>
            <a:endParaRPr lang="en-US" sz="2000" dirty="0"/>
          </a:p>
        </p:txBody>
      </p:sp>
      <p:sp>
        <p:nvSpPr>
          <p:cNvPr id="38" name="Text 36"/>
          <p:cNvSpPr/>
          <p:nvPr/>
        </p:nvSpPr>
        <p:spPr>
          <a:xfrm>
            <a:off x="6309360" y="4041648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Available worldwide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8869680" y="4846320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0C85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65760" y="182880"/>
            <a:ext cx="1280160" cy="256032"/>
          </a:xfrm>
          <a:prstGeom prst="rect">
            <a:avLst/>
          </a:prstGeom>
          <a:solidFill>
            <a:srgbClr val="00BCD4">
              <a:alpha val="20000"/>
            </a:srgbClr>
          </a:solidFill>
          <a:ln w="12700">
            <a:solidFill>
              <a:srgbClr val="00BCD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82880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B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65760" y="59436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7 Financial Calculators Built From Scratch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365760" y="11430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third-party widget. Every formula coded manually in React.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320040" y="1508760"/>
            <a:ext cx="4114800" cy="713232"/>
          </a:xfrm>
          <a:prstGeom prst="rect">
            <a:avLst/>
          </a:prstGeom>
          <a:solidFill>
            <a:srgbClr val="0D1626"/>
          </a:solidFill>
          <a:ln w="12700">
            <a:solidFill>
              <a:srgbClr val="1F293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29768" y="1508760"/>
            <a:ext cx="548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C85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01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978408" y="1645920"/>
            <a:ext cx="0" cy="438912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69848" y="155448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Position Size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069848" y="1856232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Capital, risk %, entry, stop loss → Qty to buy + R:R ratio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20040" y="2350008"/>
            <a:ext cx="4114800" cy="713232"/>
          </a:xfrm>
          <a:prstGeom prst="rect">
            <a:avLst/>
          </a:prstGeom>
          <a:solidFill>
            <a:srgbClr val="0D1626"/>
          </a:solidFill>
          <a:ln w="12700">
            <a:solidFill>
              <a:srgbClr val="1F293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429768" y="2350008"/>
            <a:ext cx="548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C85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02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978408" y="2487168"/>
            <a:ext cx="0" cy="438912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69848" y="239572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SIP Calculator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069848" y="26974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amount, rate, years → Total maturity value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20040" y="3191256"/>
            <a:ext cx="4114800" cy="713232"/>
          </a:xfrm>
          <a:prstGeom prst="rect">
            <a:avLst/>
          </a:prstGeom>
          <a:solidFill>
            <a:srgbClr val="0D1626"/>
          </a:solidFill>
          <a:ln w="12700">
            <a:solidFill>
              <a:srgbClr val="1F293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29768" y="3191256"/>
            <a:ext cx="548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C85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03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978408" y="3328416"/>
            <a:ext cx="0" cy="438912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69848" y="3236976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Brokerage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1069848" y="3538728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Equity/F&amp;O → STT, GST, SEBI charges, net P&amp;L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20040" y="4032504"/>
            <a:ext cx="4114800" cy="713232"/>
          </a:xfrm>
          <a:prstGeom prst="rect">
            <a:avLst/>
          </a:prstGeom>
          <a:solidFill>
            <a:srgbClr val="0D1626"/>
          </a:solidFill>
          <a:ln w="12700">
            <a:solidFill>
              <a:srgbClr val="1F293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429768" y="4032504"/>
            <a:ext cx="548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C85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04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978408" y="4169664"/>
            <a:ext cx="0" cy="438912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069848" y="4078224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EMI / Loan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1069848" y="4379976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Principal, rate, tenure → Monthly EMI + total interest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4754880" y="1508760"/>
            <a:ext cx="4114800" cy="713232"/>
          </a:xfrm>
          <a:prstGeom prst="rect">
            <a:avLst/>
          </a:prstGeom>
          <a:solidFill>
            <a:srgbClr val="0D1626"/>
          </a:solidFill>
          <a:ln w="12700">
            <a:solidFill>
              <a:srgbClr val="1F293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4864608" y="1508760"/>
            <a:ext cx="548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C85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05</a:t>
            </a:r>
            <a:endParaRPr lang="en-US" sz="1800" dirty="0"/>
          </a:p>
        </p:txBody>
      </p:sp>
      <p:sp>
        <p:nvSpPr>
          <p:cNvPr id="29" name="Shape 27"/>
          <p:cNvSpPr/>
          <p:nvPr/>
        </p:nvSpPr>
        <p:spPr>
          <a:xfrm>
            <a:off x="5413248" y="1645920"/>
            <a:ext cx="0" cy="438912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504688" y="155448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Compound Interest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5504688" y="1856232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Yearly/quarterly/monthly compounding → final amount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754880" y="2350008"/>
            <a:ext cx="4114800" cy="713232"/>
          </a:xfrm>
          <a:prstGeom prst="rect">
            <a:avLst/>
          </a:prstGeom>
          <a:solidFill>
            <a:srgbClr val="0D1626"/>
          </a:solidFill>
          <a:ln w="12700">
            <a:solidFill>
              <a:srgbClr val="1F293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4864608" y="2350008"/>
            <a:ext cx="548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C85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06</a:t>
            </a:r>
            <a:endParaRPr lang="en-US" sz="1800" dirty="0"/>
          </a:p>
        </p:txBody>
      </p:sp>
      <p:sp>
        <p:nvSpPr>
          <p:cNvPr id="34" name="Shape 32"/>
          <p:cNvSpPr/>
          <p:nvPr/>
        </p:nvSpPr>
        <p:spPr>
          <a:xfrm>
            <a:off x="5413248" y="2487168"/>
            <a:ext cx="0" cy="438912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504688" y="239572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Margin Calculator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5504688" y="26974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Stock price, qty, leverage → Margin required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4754880" y="3191256"/>
            <a:ext cx="4114800" cy="713232"/>
          </a:xfrm>
          <a:prstGeom prst="rect">
            <a:avLst/>
          </a:prstGeom>
          <a:solidFill>
            <a:srgbClr val="0D1626"/>
          </a:solidFill>
          <a:ln w="12700">
            <a:solidFill>
              <a:srgbClr val="1F293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38" name="Text 36"/>
          <p:cNvSpPr/>
          <p:nvPr/>
        </p:nvSpPr>
        <p:spPr>
          <a:xfrm>
            <a:off x="4864608" y="3191256"/>
            <a:ext cx="548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C85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07</a:t>
            </a:r>
            <a:endParaRPr lang="en-US" sz="1800" dirty="0"/>
          </a:p>
        </p:txBody>
      </p:sp>
      <p:sp>
        <p:nvSpPr>
          <p:cNvPr id="39" name="Shape 37"/>
          <p:cNvSpPr/>
          <p:nvPr/>
        </p:nvSpPr>
        <p:spPr>
          <a:xfrm>
            <a:off x="5413248" y="3328416"/>
            <a:ext cx="0" cy="438912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504688" y="3236976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Returns</a:t>
            </a:r>
            <a:endParaRPr lang="en-US" sz="1300" dirty="0"/>
          </a:p>
        </p:txBody>
      </p:sp>
      <p:sp>
        <p:nvSpPr>
          <p:cNvPr id="41" name="Text 39"/>
          <p:cNvSpPr/>
          <p:nvPr/>
        </p:nvSpPr>
        <p:spPr>
          <a:xfrm>
            <a:off x="5504688" y="3538728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Buy/sell price, days → Absolute + annualised returns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4754880" y="4032504"/>
            <a:ext cx="4114800" cy="713232"/>
          </a:xfrm>
          <a:prstGeom prst="rect">
            <a:avLst/>
          </a:prstGeom>
          <a:solidFill>
            <a:srgbClr val="0D1626"/>
          </a:solidFill>
          <a:ln w="12700">
            <a:solidFill>
              <a:srgbClr val="1F293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43" name="Text 41"/>
          <p:cNvSpPr/>
          <p:nvPr/>
        </p:nvSpPr>
        <p:spPr>
          <a:xfrm>
            <a:off x="4937760" y="4032504"/>
            <a:ext cx="3749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more coming soon</a:t>
            </a:r>
            <a:endParaRPr lang="en-US" sz="1300" dirty="0"/>
          </a:p>
        </p:txBody>
      </p:sp>
      <p:sp>
        <p:nvSpPr>
          <p:cNvPr id="44" name="Text 42"/>
          <p:cNvSpPr/>
          <p:nvPr/>
        </p:nvSpPr>
        <p:spPr>
          <a:xfrm>
            <a:off x="8869680" y="4846320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0C85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65760" y="182880"/>
            <a:ext cx="1280160" cy="256032"/>
          </a:xfrm>
          <a:prstGeom prst="rect">
            <a:avLst/>
          </a:prstGeom>
          <a:solidFill>
            <a:srgbClr val="00C853">
              <a:alpha val="20000"/>
            </a:srgbClr>
          </a:solidFill>
          <a:ln w="12700">
            <a:solidFill>
              <a:srgbClr val="00C85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82880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C8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65760" y="59436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How user accounts actually work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320040" y="1325880"/>
            <a:ext cx="2606040" cy="1463040"/>
          </a:xfrm>
          <a:prstGeom prst="rect">
            <a:avLst/>
          </a:prstGeom>
          <a:solidFill>
            <a:srgbClr val="0D1626"/>
          </a:solidFill>
          <a:ln w="12700">
            <a:solidFill>
              <a:srgbClr val="1F293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29768" y="14356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0C85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60120" y="146304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User Signs Up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57200" y="1965960"/>
            <a:ext cx="2331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Enters name, email, password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926080" y="2057400"/>
            <a:ext cx="274320" cy="0"/>
          </a:xfrm>
          <a:prstGeom prst="line">
            <a:avLst/>
          </a:prstGeom>
          <a:noFill/>
          <a:ln w="19050">
            <a:solidFill>
              <a:srgbClr val="00C85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200400" y="1325880"/>
            <a:ext cx="2606040" cy="1463040"/>
          </a:xfrm>
          <a:prstGeom prst="rect">
            <a:avLst/>
          </a:prstGeom>
          <a:solidFill>
            <a:srgbClr val="0D1626"/>
          </a:solidFill>
          <a:ln w="12700">
            <a:solidFill>
              <a:srgbClr val="1F293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310128" y="14356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0C85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3840480" y="146304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Bcrypt Hash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3337560" y="1965960"/>
            <a:ext cx="2331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Password → $2b$10$xK9mN... (irreversible)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806440" y="2057400"/>
            <a:ext cx="274320" cy="0"/>
          </a:xfrm>
          <a:prstGeom prst="line">
            <a:avLst/>
          </a:prstGeom>
          <a:noFill/>
          <a:ln w="19050">
            <a:solidFill>
              <a:srgbClr val="00C85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080760" y="1325880"/>
            <a:ext cx="2606040" cy="1463040"/>
          </a:xfrm>
          <a:prstGeom prst="rect">
            <a:avLst/>
          </a:prstGeom>
          <a:solidFill>
            <a:srgbClr val="0D1626"/>
          </a:solidFill>
          <a:ln w="12700">
            <a:solidFill>
              <a:srgbClr val="1F293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6190488" y="14356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0C85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6720840" y="146304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Saved to MongoDB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217920" y="1965960"/>
            <a:ext cx="2331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the hash is stored, never the real password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320040" y="3017520"/>
            <a:ext cx="2606040" cy="1463040"/>
          </a:xfrm>
          <a:prstGeom prst="rect">
            <a:avLst/>
          </a:prstGeom>
          <a:solidFill>
            <a:srgbClr val="0D1626"/>
          </a:solidFill>
          <a:ln w="12700">
            <a:solidFill>
              <a:srgbClr val="1F293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29768" y="31272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0C85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960120" y="315468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JWT Issued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457200" y="3657600"/>
            <a:ext cx="2331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signs a 7-day token with JWT_SECRET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2926080" y="3749040"/>
            <a:ext cx="274320" cy="0"/>
          </a:xfrm>
          <a:prstGeom prst="line">
            <a:avLst/>
          </a:prstGeom>
          <a:noFill/>
          <a:ln w="19050">
            <a:solidFill>
              <a:srgbClr val="00C85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200400" y="3017520"/>
            <a:ext cx="2606040" cy="1463040"/>
          </a:xfrm>
          <a:prstGeom prst="rect">
            <a:avLst/>
          </a:prstGeom>
          <a:solidFill>
            <a:srgbClr val="0D1626"/>
          </a:solidFill>
          <a:ln w="12700">
            <a:solidFill>
              <a:srgbClr val="1F293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3310128" y="31272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0C85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</a:t>
            </a:r>
            <a:endParaRPr lang="en-US" sz="2400" dirty="0"/>
          </a:p>
        </p:txBody>
      </p:sp>
      <p:sp>
        <p:nvSpPr>
          <p:cNvPr id="27" name="Text 25"/>
          <p:cNvSpPr/>
          <p:nvPr/>
        </p:nvSpPr>
        <p:spPr>
          <a:xfrm>
            <a:off x="3840480" y="315468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Browser Stores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3337560" y="3657600"/>
            <a:ext cx="2331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 saved in localStorage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5806440" y="3749040"/>
            <a:ext cx="274320" cy="0"/>
          </a:xfrm>
          <a:prstGeom prst="line">
            <a:avLst/>
          </a:prstGeom>
          <a:noFill/>
          <a:ln w="19050">
            <a:solidFill>
              <a:srgbClr val="00C853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080760" y="3017520"/>
            <a:ext cx="2606040" cy="1463040"/>
          </a:xfrm>
          <a:prstGeom prst="rect">
            <a:avLst/>
          </a:prstGeom>
          <a:solidFill>
            <a:srgbClr val="0D1626"/>
          </a:solidFill>
          <a:ln w="12700">
            <a:solidFill>
              <a:srgbClr val="1F293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6190488" y="31272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0C85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6</a:t>
            </a:r>
            <a:endParaRPr lang="en-US" sz="2400" dirty="0"/>
          </a:p>
        </p:txBody>
      </p:sp>
      <p:sp>
        <p:nvSpPr>
          <p:cNvPr id="32" name="Text 30"/>
          <p:cNvSpPr/>
          <p:nvPr/>
        </p:nvSpPr>
        <p:spPr>
          <a:xfrm>
            <a:off x="6720840" y="315468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Protected Routes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6217920" y="3657600"/>
            <a:ext cx="2331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request sends token — server verifies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320040" y="4617720"/>
            <a:ext cx="8503920" cy="365760"/>
          </a:xfrm>
          <a:prstGeom prst="rect">
            <a:avLst/>
          </a:prstGeom>
          <a:solidFill>
            <a:srgbClr val="0F1929"/>
          </a:solidFill>
          <a:ln w="12700">
            <a:solidFill>
              <a:srgbClr val="1F293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457200" y="4645152"/>
            <a:ext cx="8229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technology used by Netflix, Google, and every major fintech platform.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8869680" y="4846320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0C85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65760" y="182880"/>
            <a:ext cx="1280160" cy="256032"/>
          </a:xfrm>
          <a:prstGeom prst="rect">
            <a:avLst/>
          </a:prstGeom>
          <a:solidFill>
            <a:srgbClr val="FF4444">
              <a:alpha val="20000"/>
            </a:srgbClr>
          </a:solidFill>
          <a:ln w="12700">
            <a:solidFill>
              <a:srgbClr val="FF444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82880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LIMITATIONS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65760" y="59436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Being honest about what is missing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365760" y="11430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product has gaps. Here is what PrisePulse does not do yet.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320040" y="1554480"/>
            <a:ext cx="4114800" cy="566928"/>
          </a:xfrm>
          <a:prstGeom prst="rect">
            <a:avLst/>
          </a:prstGeom>
          <a:solidFill>
            <a:srgbClr val="0D1626"/>
          </a:solidFill>
          <a:ln w="12700">
            <a:solidFill>
              <a:srgbClr val="1F293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320040" y="1554480"/>
            <a:ext cx="54864" cy="566928"/>
          </a:xfrm>
          <a:prstGeom prst="rect">
            <a:avLst/>
          </a:prstGeom>
          <a:solidFill>
            <a:srgbClr val="FF44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4632" y="1591056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 OTP Verification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84632" y="1847088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Users can sign up with any email without confirming ownership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0040" y="2212848"/>
            <a:ext cx="4114800" cy="566928"/>
          </a:xfrm>
          <a:prstGeom prst="rect">
            <a:avLst/>
          </a:prstGeom>
          <a:solidFill>
            <a:srgbClr val="0D1626"/>
          </a:solidFill>
          <a:ln w="12700">
            <a:solidFill>
              <a:srgbClr val="1F293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20040" y="2212848"/>
            <a:ext cx="54864" cy="566928"/>
          </a:xfrm>
          <a:prstGeom prst="rect">
            <a:avLst/>
          </a:prstGeom>
          <a:solidFill>
            <a:srgbClr val="FF44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84632" y="2249424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 Two-Factor Auth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84632" y="2505456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 protected by password only, no Google Authenticator or SMS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20040" y="2871216"/>
            <a:ext cx="4114800" cy="566928"/>
          </a:xfrm>
          <a:prstGeom prst="rect">
            <a:avLst/>
          </a:prstGeom>
          <a:solidFill>
            <a:srgbClr val="0D1626"/>
          </a:solidFill>
          <a:ln w="12700">
            <a:solidFill>
              <a:srgbClr val="1F293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20040" y="2871216"/>
            <a:ext cx="54864" cy="566928"/>
          </a:xfrm>
          <a:prstGeom prst="rect">
            <a:avLst/>
          </a:prstGeom>
          <a:solidFill>
            <a:srgbClr val="FF44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84632" y="2907792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 Forgot Password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84632" y="3163824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password is forgotten, the account cannot be recovered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320040" y="3529584"/>
            <a:ext cx="4114800" cy="566928"/>
          </a:xfrm>
          <a:prstGeom prst="rect">
            <a:avLst/>
          </a:prstGeom>
          <a:solidFill>
            <a:srgbClr val="0D1626"/>
          </a:solidFill>
          <a:ln w="12700">
            <a:solidFill>
              <a:srgbClr val="1F293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320040" y="3529584"/>
            <a:ext cx="54864" cy="566928"/>
          </a:xfrm>
          <a:prstGeom prst="rect">
            <a:avLst/>
          </a:prstGeom>
          <a:solidFill>
            <a:srgbClr val="FF44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84632" y="3566160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 Rate Limiting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484632" y="3822192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 endpoint accepts unlimited attempts, brute force is possible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320040" y="4187952"/>
            <a:ext cx="4114800" cy="566928"/>
          </a:xfrm>
          <a:prstGeom prst="rect">
            <a:avLst/>
          </a:prstGeom>
          <a:solidFill>
            <a:srgbClr val="0D1626"/>
          </a:solidFill>
          <a:ln w="12700">
            <a:solidFill>
              <a:srgbClr val="1F293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320040" y="4187952"/>
            <a:ext cx="54864" cy="566928"/>
          </a:xfrm>
          <a:prstGeom prst="rect">
            <a:avLst/>
          </a:prstGeom>
          <a:solidFill>
            <a:srgbClr val="FF44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84632" y="4224528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 Stock Search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484632" y="4480560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Cannot search arbitrary NSE symbols, only predefined stocks work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4754880" y="1554480"/>
            <a:ext cx="4114800" cy="566928"/>
          </a:xfrm>
          <a:prstGeom prst="rect">
            <a:avLst/>
          </a:prstGeom>
          <a:solidFill>
            <a:srgbClr val="0D1626"/>
          </a:solidFill>
          <a:ln w="12700">
            <a:solidFill>
              <a:srgbClr val="1F293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4754880" y="1554480"/>
            <a:ext cx="54864" cy="566928"/>
          </a:xfrm>
          <a:prstGeom prst="rect">
            <a:avLst/>
          </a:prstGeom>
          <a:solidFill>
            <a:srgbClr val="FF44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919472" y="1591056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 Historical Charts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919472" y="1847088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today intraday chart, no weekly, monthly or yearly view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4754880" y="2212848"/>
            <a:ext cx="4114800" cy="566928"/>
          </a:xfrm>
          <a:prstGeom prst="rect">
            <a:avLst/>
          </a:prstGeom>
          <a:solidFill>
            <a:srgbClr val="0D1626"/>
          </a:solidFill>
          <a:ln w="12700">
            <a:solidFill>
              <a:srgbClr val="1F293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4754880" y="2212848"/>
            <a:ext cx="54864" cy="566928"/>
          </a:xfrm>
          <a:prstGeom prst="rect">
            <a:avLst/>
          </a:prstGeom>
          <a:solidFill>
            <a:srgbClr val="FF44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919472" y="2249424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 F&amp;O or IPO Section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4919472" y="2505456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options chain, futures, upcoming IPOs or stock filters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4754880" y="2871216"/>
            <a:ext cx="4114800" cy="566928"/>
          </a:xfrm>
          <a:prstGeom prst="rect">
            <a:avLst/>
          </a:prstGeom>
          <a:solidFill>
            <a:srgbClr val="0D1626"/>
          </a:solidFill>
          <a:ln w="12700">
            <a:solidFill>
              <a:srgbClr val="1F293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4754880" y="2871216"/>
            <a:ext cx="54864" cy="566928"/>
          </a:xfrm>
          <a:prstGeom prst="rect">
            <a:avLst/>
          </a:prstGeom>
          <a:solidFill>
            <a:srgbClr val="FF44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919472" y="2907792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Calculator Results Lost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4919472" y="3163824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inputs are cleared when the page is refreshed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4754880" y="3529584"/>
            <a:ext cx="4114800" cy="566928"/>
          </a:xfrm>
          <a:prstGeom prst="rect">
            <a:avLst/>
          </a:prstGeom>
          <a:solidFill>
            <a:srgbClr val="0D1626"/>
          </a:solidFill>
          <a:ln w="12700">
            <a:solidFill>
              <a:srgbClr val="1F293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40" name="Shape 38"/>
          <p:cNvSpPr/>
          <p:nvPr/>
        </p:nvSpPr>
        <p:spPr>
          <a:xfrm>
            <a:off x="4754880" y="3529584"/>
            <a:ext cx="54864" cy="566928"/>
          </a:xfrm>
          <a:prstGeom prst="rect">
            <a:avLst/>
          </a:prstGeom>
          <a:solidFill>
            <a:srgbClr val="FF44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919472" y="3566160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Cache Resets on Restart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4919472" y="3822192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In-memory cache is lost on every server restart or redeploy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4754880" y="4187952"/>
            <a:ext cx="4114800" cy="566928"/>
          </a:xfrm>
          <a:prstGeom prst="rect">
            <a:avLst/>
          </a:prstGeom>
          <a:solidFill>
            <a:srgbClr val="0D1626"/>
          </a:solidFill>
          <a:ln w="12700">
            <a:solidFill>
              <a:srgbClr val="1F293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44" name="Shape 42"/>
          <p:cNvSpPr/>
          <p:nvPr/>
        </p:nvSpPr>
        <p:spPr>
          <a:xfrm>
            <a:off x="4754880" y="4187952"/>
            <a:ext cx="54864" cy="566928"/>
          </a:xfrm>
          <a:prstGeom prst="rect">
            <a:avLst/>
          </a:prstGeom>
          <a:solidFill>
            <a:srgbClr val="FF44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919472" y="4224528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Cold Start Delay</a:t>
            </a:r>
            <a:endParaRPr lang="en-US" sz="1200" dirty="0"/>
          </a:p>
        </p:txBody>
      </p:sp>
      <p:sp>
        <p:nvSpPr>
          <p:cNvPr id="46" name="Text 44"/>
          <p:cNvSpPr/>
          <p:nvPr/>
        </p:nvSpPr>
        <p:spPr>
          <a:xfrm>
            <a:off x="4919472" y="4480560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Render free tier sleeps after 15 min causing 30-50s wake-up delay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8869680" y="4846320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0C85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65760" y="182880"/>
            <a:ext cx="1280160" cy="256032"/>
          </a:xfrm>
          <a:prstGeom prst="rect">
            <a:avLst/>
          </a:prstGeom>
          <a:solidFill>
            <a:srgbClr val="00BCD4">
              <a:alpha val="20000"/>
            </a:srgbClr>
          </a:solidFill>
          <a:ln w="12700">
            <a:solidFill>
              <a:srgbClr val="00BCD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82880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B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LEARNINGS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65760" y="59436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building this taught me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320040" y="1280160"/>
            <a:ext cx="2651760" cy="1554480"/>
          </a:xfrm>
          <a:prstGeom prst="rect">
            <a:avLst/>
          </a:prstGeom>
          <a:solidFill>
            <a:srgbClr val="0D1626"/>
          </a:solidFill>
          <a:ln w="12700">
            <a:solidFill>
              <a:srgbClr val="1F293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20040" y="1280160"/>
            <a:ext cx="2651760" cy="54864"/>
          </a:xfrm>
          <a:prstGeom prst="rect">
            <a:avLst/>
          </a:prstGeom>
          <a:solidFill>
            <a:srgbClr val="00C853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44752"/>
            <a:ext cx="347472" cy="347472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868680" y="1417320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WebSocket Protocol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457200" y="192024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real-time two-way communication works between browser and server — the backbone of every trading platform.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3200400" y="1280160"/>
            <a:ext cx="2651760" cy="1554480"/>
          </a:xfrm>
          <a:prstGeom prst="rect">
            <a:avLst/>
          </a:prstGeom>
          <a:solidFill>
            <a:srgbClr val="0D1626"/>
          </a:solidFill>
          <a:ln w="12700">
            <a:solidFill>
              <a:srgbClr val="1F293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200400" y="1280160"/>
            <a:ext cx="2651760" cy="54864"/>
          </a:xfrm>
          <a:prstGeom prst="rect">
            <a:avLst/>
          </a:prstGeom>
          <a:solidFill>
            <a:srgbClr val="00BCD4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7560" y="1444752"/>
            <a:ext cx="347472" cy="347472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3749040" y="1417320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Authentication Flow</a:t>
            </a:r>
            <a:endParaRPr lang="en-US" sz="1300" dirty="0"/>
          </a:p>
        </p:txBody>
      </p:sp>
      <p:sp>
        <p:nvSpPr>
          <p:cNvPr id="15" name="Text 11"/>
          <p:cNvSpPr/>
          <p:nvPr/>
        </p:nvSpPr>
        <p:spPr>
          <a:xfrm>
            <a:off x="3337560" y="192024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bcrypt matters. How JWT tokens work. Why passwords should never be stored as plain text — ever.</a:t>
            </a:r>
            <a:endParaRPr lang="en-US" sz="1000" dirty="0"/>
          </a:p>
        </p:txBody>
      </p:sp>
      <p:sp>
        <p:nvSpPr>
          <p:cNvPr id="16" name="Shape 12"/>
          <p:cNvSpPr/>
          <p:nvPr/>
        </p:nvSpPr>
        <p:spPr>
          <a:xfrm>
            <a:off x="6080760" y="1280160"/>
            <a:ext cx="2651760" cy="1554480"/>
          </a:xfrm>
          <a:prstGeom prst="rect">
            <a:avLst/>
          </a:prstGeom>
          <a:solidFill>
            <a:srgbClr val="0D1626"/>
          </a:solidFill>
          <a:ln w="12700">
            <a:solidFill>
              <a:srgbClr val="1F293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080760" y="1280160"/>
            <a:ext cx="2651760" cy="54864"/>
          </a:xfrm>
          <a:prstGeom prst="rect">
            <a:avLst/>
          </a:prstGeom>
          <a:solidFill>
            <a:srgbClr val="00E676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444752"/>
            <a:ext cx="347472" cy="347472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6629400" y="1417320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Database Design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217920" y="192024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Designing MongoDB schemas, understanding document relationships, and why indexing matters at scale.</a:t>
            </a:r>
            <a:endParaRPr lang="en-US" sz="1000" dirty="0"/>
          </a:p>
        </p:txBody>
      </p:sp>
      <p:sp>
        <p:nvSpPr>
          <p:cNvPr id="21" name="Shape 16"/>
          <p:cNvSpPr/>
          <p:nvPr/>
        </p:nvSpPr>
        <p:spPr>
          <a:xfrm>
            <a:off x="320040" y="3017520"/>
            <a:ext cx="2651760" cy="1554480"/>
          </a:xfrm>
          <a:prstGeom prst="rect">
            <a:avLst/>
          </a:prstGeom>
          <a:solidFill>
            <a:srgbClr val="0D1626"/>
          </a:solidFill>
          <a:ln w="12700">
            <a:solidFill>
              <a:srgbClr val="1F293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22" name="Shape 17"/>
          <p:cNvSpPr/>
          <p:nvPr/>
        </p:nvSpPr>
        <p:spPr>
          <a:xfrm>
            <a:off x="320040" y="3017520"/>
            <a:ext cx="2651760" cy="54864"/>
          </a:xfrm>
          <a:prstGeom prst="rect">
            <a:avLst/>
          </a:prstGeom>
          <a:solidFill>
            <a:srgbClr val="00C853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3182112"/>
            <a:ext cx="347472" cy="347472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868680" y="3154680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API Integration</a:t>
            </a:r>
            <a:endParaRPr lang="en-US" sz="1300" dirty="0"/>
          </a:p>
        </p:txBody>
      </p:sp>
      <p:sp>
        <p:nvSpPr>
          <p:cNvPr id="25" name="Text 19"/>
          <p:cNvSpPr/>
          <p:nvPr/>
        </p:nvSpPr>
        <p:spPr>
          <a:xfrm>
            <a:off x="457200" y="365760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with unofficial APIs, managing rate limits with caching, and building robust fallback systems.</a:t>
            </a:r>
            <a:endParaRPr lang="en-US" sz="1000" dirty="0"/>
          </a:p>
        </p:txBody>
      </p:sp>
      <p:sp>
        <p:nvSpPr>
          <p:cNvPr id="26" name="Shape 20"/>
          <p:cNvSpPr/>
          <p:nvPr/>
        </p:nvSpPr>
        <p:spPr>
          <a:xfrm>
            <a:off x="3200400" y="3017520"/>
            <a:ext cx="2651760" cy="1554480"/>
          </a:xfrm>
          <a:prstGeom prst="rect">
            <a:avLst/>
          </a:prstGeom>
          <a:solidFill>
            <a:srgbClr val="0D1626"/>
          </a:solidFill>
          <a:ln w="12700">
            <a:solidFill>
              <a:srgbClr val="1F293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27" name="Shape 21"/>
          <p:cNvSpPr/>
          <p:nvPr/>
        </p:nvSpPr>
        <p:spPr>
          <a:xfrm>
            <a:off x="3200400" y="3017520"/>
            <a:ext cx="2651760" cy="54864"/>
          </a:xfrm>
          <a:prstGeom prst="rect">
            <a:avLst/>
          </a:prstGeom>
          <a:solidFill>
            <a:srgbClr val="00BCD4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2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37560" y="3182112"/>
            <a:ext cx="347472" cy="347472"/>
          </a:xfrm>
          <a:prstGeom prst="rect">
            <a:avLst/>
          </a:prstGeom>
        </p:spPr>
      </p:pic>
      <p:sp>
        <p:nvSpPr>
          <p:cNvPr id="29" name="Text 22"/>
          <p:cNvSpPr/>
          <p:nvPr/>
        </p:nvSpPr>
        <p:spPr>
          <a:xfrm>
            <a:off x="3749040" y="3154680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Deployment Pipeline</a:t>
            </a:r>
            <a:endParaRPr lang="en-US" sz="1300" dirty="0"/>
          </a:p>
        </p:txBody>
      </p:sp>
      <p:sp>
        <p:nvSpPr>
          <p:cNvPr id="30" name="Text 23"/>
          <p:cNvSpPr/>
          <p:nvPr/>
        </p:nvSpPr>
        <p:spPr>
          <a:xfrm>
            <a:off x="3337560" y="365760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to Vercel to Render — how auto-deployment works and why environment variables keep secrets safe.</a:t>
            </a:r>
            <a:endParaRPr lang="en-US" sz="1000" dirty="0"/>
          </a:p>
        </p:txBody>
      </p:sp>
      <p:sp>
        <p:nvSpPr>
          <p:cNvPr id="31" name="Shape 24"/>
          <p:cNvSpPr/>
          <p:nvPr/>
        </p:nvSpPr>
        <p:spPr>
          <a:xfrm>
            <a:off x="6080760" y="3017520"/>
            <a:ext cx="2651760" cy="1554480"/>
          </a:xfrm>
          <a:prstGeom prst="rect">
            <a:avLst/>
          </a:prstGeom>
          <a:solidFill>
            <a:srgbClr val="0D1626"/>
          </a:solidFill>
          <a:ln w="12700">
            <a:solidFill>
              <a:srgbClr val="1F293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32" name="Shape 25"/>
          <p:cNvSpPr/>
          <p:nvPr/>
        </p:nvSpPr>
        <p:spPr>
          <a:xfrm>
            <a:off x="6080760" y="3017520"/>
            <a:ext cx="2651760" cy="54864"/>
          </a:xfrm>
          <a:prstGeom prst="rect">
            <a:avLst/>
          </a:prstGeom>
          <a:solidFill>
            <a:srgbClr val="00E676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33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17920" y="3182112"/>
            <a:ext cx="347472" cy="347472"/>
          </a:xfrm>
          <a:prstGeom prst="rect">
            <a:avLst/>
          </a:prstGeom>
        </p:spPr>
      </p:pic>
      <p:sp>
        <p:nvSpPr>
          <p:cNvPr id="34" name="Text 26"/>
          <p:cNvSpPr/>
          <p:nvPr/>
        </p:nvSpPr>
        <p:spPr>
          <a:xfrm>
            <a:off x="6629400" y="3154680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Product Thinking</a:t>
            </a:r>
            <a:endParaRPr lang="en-US" sz="1300" dirty="0"/>
          </a:p>
        </p:txBody>
      </p:sp>
      <p:sp>
        <p:nvSpPr>
          <p:cNvPr id="35" name="Text 27"/>
          <p:cNvSpPr/>
          <p:nvPr/>
        </p:nvSpPr>
        <p:spPr>
          <a:xfrm>
            <a:off x="6217920" y="365760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Features that seem simple (live prices, login) involve 10 layers of complexity. The gap is just code.</a:t>
            </a:r>
            <a:endParaRPr lang="en-US" sz="1000" dirty="0"/>
          </a:p>
        </p:txBody>
      </p:sp>
      <p:sp>
        <p:nvSpPr>
          <p:cNvPr id="36" name="Text 28"/>
          <p:cNvSpPr/>
          <p:nvPr/>
        </p:nvSpPr>
        <p:spPr>
          <a:xfrm>
            <a:off x="8869680" y="4846320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1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0"/>
          </a:xfrm>
          <a:prstGeom prst="rect">
            <a:avLst/>
          </a:prstGeom>
          <a:solidFill>
            <a:srgbClr val="00C85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A0E1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PrisePulse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731520" y="731520"/>
            <a:ext cx="49377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gap between an idea</a:t>
            </a:r>
            <a:endParaRPr lang="en-US" sz="2800" dirty="0"/>
          </a:p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and a working product</a:t>
            </a:r>
            <a:endParaRPr lang="en-US" sz="2800" dirty="0"/>
          </a:p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 just code.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31520" y="3063240"/>
            <a:ext cx="1280160" cy="54864"/>
          </a:xfrm>
          <a:prstGeom prst="rect">
            <a:avLst/>
          </a:prstGeom>
          <a:solidFill>
            <a:srgbClr val="00C85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324612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Krish Shah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31520" y="361188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Full-Stack Web Developer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669280" y="914400"/>
            <a:ext cx="3108960" cy="3200400"/>
          </a:xfrm>
          <a:prstGeom prst="rect">
            <a:avLst/>
          </a:prstGeom>
          <a:solidFill>
            <a:srgbClr val="0D1626"/>
          </a:solidFill>
          <a:ln w="12700">
            <a:solidFill>
              <a:srgbClr val="1F293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5669280" y="914400"/>
            <a:ext cx="3108960" cy="54864"/>
          </a:xfrm>
          <a:prstGeom prst="rect">
            <a:avLst/>
          </a:prstGeom>
          <a:solidFill>
            <a:srgbClr val="00C85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806440" y="105156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Links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5806440" y="1572768"/>
            <a:ext cx="2834640" cy="548640"/>
          </a:xfrm>
          <a:prstGeom prst="rect">
            <a:avLst/>
          </a:prstGeom>
          <a:solidFill>
            <a:srgbClr val="131C2E"/>
          </a:solidFill>
          <a:ln w="12700">
            <a:solidFill>
              <a:srgbClr val="1F293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5806440" y="1572768"/>
            <a:ext cx="54864" cy="548640"/>
          </a:xfrm>
          <a:prstGeom prst="rect">
            <a:avLst/>
          </a:prstGeom>
          <a:solidFill>
            <a:srgbClr val="00C85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943600" y="1591056"/>
            <a:ext cx="2560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C85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Live App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943600" y="1847088"/>
            <a:ext cx="2560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prisepulse-two.vercel.app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806440" y="2304288"/>
            <a:ext cx="2834640" cy="548640"/>
          </a:xfrm>
          <a:prstGeom prst="rect">
            <a:avLst/>
          </a:prstGeom>
          <a:solidFill>
            <a:srgbClr val="131C2E"/>
          </a:solidFill>
          <a:ln w="12700">
            <a:solidFill>
              <a:srgbClr val="1F293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5806440" y="2304288"/>
            <a:ext cx="54864" cy="548640"/>
          </a:xfrm>
          <a:prstGeom prst="rect">
            <a:avLst/>
          </a:prstGeom>
          <a:solidFill>
            <a:srgbClr val="00BCD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943600" y="2322576"/>
            <a:ext cx="2560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BCD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Backend API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943600" y="2578608"/>
            <a:ext cx="2560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prisepulse-server.onrender.com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806440" y="3035808"/>
            <a:ext cx="2834640" cy="548640"/>
          </a:xfrm>
          <a:prstGeom prst="rect">
            <a:avLst/>
          </a:prstGeom>
          <a:solidFill>
            <a:srgbClr val="131C2E"/>
          </a:solidFill>
          <a:ln w="12700">
            <a:solidFill>
              <a:srgbClr val="1F293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5806440" y="3035808"/>
            <a:ext cx="54864" cy="548640"/>
          </a:xfrm>
          <a:prstGeom prst="rect">
            <a:avLst/>
          </a:prstGeom>
          <a:solidFill>
            <a:srgbClr val="00E67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943600" y="3054096"/>
            <a:ext cx="2560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E67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GitHub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5943600" y="3310128"/>
            <a:ext cx="2560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github.com/Krish-065/prisepulse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731520" y="41148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Thank you for your time!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8869680" y="4846320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PrisePulse</dc:title>
  <dc:subject>PptxGenJS Presentation</dc:subject>
  <dc:creator>Krish Shah</dc:creator>
  <cp:lastModifiedBy>Krish Shah</cp:lastModifiedBy>
  <cp:revision>1</cp:revision>
  <dcterms:created xsi:type="dcterms:W3CDTF">2026-03-20T07:38:00Z</dcterms:created>
  <dcterms:modified xsi:type="dcterms:W3CDTF">2026-03-20T07:38:00Z</dcterms:modified>
</cp:coreProperties>
</file>